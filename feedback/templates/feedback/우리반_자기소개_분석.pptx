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학생 수</c:v>
                </c:pt>
              </c:strCache>
            </c:strRef>
          </c:tx>
          <c:spPr>
            <a:solidFill>
              <a:srgbClr val="223A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음악·노래 듣기</c:v>
                  </c:pt>
                  <c:pt idx="1">
                    <c:v>드라마·영화·유튜브</c:v>
                  </c:pt>
                  <c:pt idx="2">
                    <c:v>스포츠 관람</c:v>
                  </c:pt>
                  <c:pt idx="3">
                    <c:v>책 읽기</c:v>
                  </c:pt>
                  <c:pt idx="4">
                    <c:v>그 외(심리·입시 등)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10</c:v>
                </c:pt>
                <c:pt idx="2">
                  <c:v>3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A1A1A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0"/>
        </c:scaling>
        <c:delete val="0"/>
        <c:axPos val="b"/>
        <c:majorGridlines>
          <c:spPr>
            <a:ln w="12700" cap="flat">
              <a:solidFill>
                <a:srgbClr val="E5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전사본에서 확인된 학생 발화 29건을 정리한 자료. 참석자 2는 교사 발화라 제외.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21명 = 음악·노래 듣기 11명 + 드라마·영화·유튜브·인스타 10명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3월 자기소개에서 흔한 분포. 학기 중 산출물 중심 수업으로 보완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3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4114800"/>
            <a:ext cx="2377440" cy="2377440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7A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2026학년도 1학년 · 자기소개 녹음 분석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3774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 29명,</a:t>
            </a:r>
            <a:endParaRPr lang="en-US" sz="4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관심사·강점·꿈 읽기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42245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6D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최근 관심사 · 자신 있는 것 · 이 다음에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892040"/>
            <a:ext cx="3931920" cy="566928"/>
          </a:xfrm>
          <a:prstGeom prst="roundRect">
            <a:avLst>
              <a:gd name="adj" fmla="val 50000"/>
            </a:avLst>
          </a:prstGeom>
          <a:solidFill>
            <a:srgbClr val="16294A"/>
          </a:solidFill>
          <a:ln w="12700">
            <a:solidFill>
              <a:srgbClr val="3B5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89204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전사 기반 · 이름 일부 확인 필요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EDF1F8"/>
          </a:solidFill>
          <a:ln w="12700">
            <a:solidFill>
              <a:srgbClr val="EDF1F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178308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pPr indent="0" marL="0">
              <a:buNone/>
            </a:pPr>
            <a:r>
              <a:rPr lang="en-US" sz="180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명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86968" y="269748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발화가 확인된 학생 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3008" y="1572768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EDF1F8"/>
          </a:solidFill>
          <a:ln w="12700">
            <a:solidFill>
              <a:srgbClr val="EDF1F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94176" y="178308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7A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pPr indent="0" marL="0">
              <a:buNone/>
            </a:pPr>
            <a:r>
              <a:rPr lang="en-US" sz="1800" b="1" dirty="0">
                <a:solidFill>
                  <a:srgbClr val="FF7A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명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94176" y="269748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관심사가 음악·영상 감상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0216" y="1572768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EDF1F8"/>
          </a:solidFill>
          <a:ln w="12700">
            <a:solidFill>
              <a:srgbClr val="EDF1F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01384" y="178308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명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501384" y="269748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 질문에 '잠·밥' 등으로 답함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07424" y="1572768"/>
            <a:ext cx="2542032" cy="1965960"/>
          </a:xfrm>
          <a:prstGeom prst="roundRect">
            <a:avLst>
              <a:gd name="adj" fmla="val 4651"/>
            </a:avLst>
          </a:prstGeom>
          <a:solidFill>
            <a:srgbClr val="EDF1F8"/>
          </a:solidFill>
          <a:ln w="12700">
            <a:solidFill>
              <a:srgbClr val="EDF1F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08592" y="178308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E8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pPr indent="0" marL="0">
              <a:buNone/>
            </a:pPr>
            <a:r>
              <a:rPr lang="en-US" sz="1800" b="1" dirty="0">
                <a:solidFill>
                  <a:srgbClr val="3E8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명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9308592" y="2697480"/>
            <a:ext cx="21396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구체적 직업을 말한 학생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794760"/>
            <a:ext cx="10817352" cy="1965960"/>
          </a:xfrm>
          <a:prstGeom prst="roundRect">
            <a:avLst>
              <a:gd name="adj" fmla="val 4651"/>
            </a:avLst>
          </a:prstGeom>
          <a:solidFill>
            <a:srgbClr val="16294A"/>
          </a:solidFill>
          <a:ln w="12700">
            <a:solidFill>
              <a:srgbClr val="16294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400507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데이터를 읽는 세 가지 관점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97280" y="4526280"/>
            <a:ext cx="310896" cy="310896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17904" y="45171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보는 쪽에 쏠려 있다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95604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보는 활동이 대부분. 직접 만들고 조작하는 경험이 비어 있음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498848" y="4526280"/>
            <a:ext cx="310896" cy="310896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98848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19472" y="45171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강점을 말하기 어려워한다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98848" y="495604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'잠자기'는 실력 부족이 아니라 자기효능감을 드러내는 것에 대한 방어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900416" y="4526280"/>
            <a:ext cx="310896" cy="310896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0416" y="4526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21040" y="45171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꿈은 있는데 언어가 없다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00416" y="495604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3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'행복하게 살기'류 11명 — 방향은 있고 직업명으로 번역이 안 된 상태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보고 듣고 있나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536192"/>
          <a:ext cx="6720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536192"/>
            <a:ext cx="3776472" cy="1965960"/>
          </a:xfrm>
          <a:prstGeom prst="roundRect">
            <a:avLst>
              <a:gd name="adj" fmla="val 4651"/>
            </a:avLst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73568" y="17190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973568" y="25420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ED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관심사가 '감상'에 머무는 비율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ED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(29명 중 21명)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26680" y="3776472"/>
            <a:ext cx="3776472" cy="1965960"/>
          </a:xfrm>
          <a:prstGeom prst="roundRect">
            <a:avLst>
              <a:gd name="adj" fmla="val 4651"/>
            </a:avLst>
          </a:prstGeom>
          <a:solidFill>
            <a:srgbClr val="EDF1F8"/>
          </a:solidFill>
          <a:ln w="12700">
            <a:solidFill>
              <a:srgbClr val="EDF1F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73568" y="39593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만드는 쪽은 소수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28432" y="4370832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찍기 · 루빅큐브 · 악기 연주 · 생선회 손질 영상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수업이 '만드는 경험'을 채워 줄 여지가 크다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'자신 있는 것' 응답이 갈린다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303520" cy="4160520"/>
          </a:xfrm>
          <a:prstGeom prst="roundRect">
            <a:avLst>
              <a:gd name="adj" fmla="val 2198"/>
            </a:avLst>
          </a:prstGeom>
          <a:solidFill>
            <a:srgbClr val="FDF0E7"/>
          </a:solidFill>
          <a:ln w="12700">
            <a:solidFill>
              <a:srgbClr val="FDF0E7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81051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7048" y="181051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A641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유보·회피형 · 10명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잠자기(6) · 밥 잘 먹기 · 빠르게 걷기 · 모르겠음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724912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능력의 문제가 아니라, 강점을 말하는 것 자체에 대한 방어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고1 3월 여학생 집단에서 자주 나오는 전형적 반응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"내가 이걸 해냈다"는 증거를 산출물로 쌓아 주면 응답이 바뀐다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 말에 같은 질문을 다시 던져 변화를 확인할 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1554480"/>
            <a:ext cx="5303520" cy="4160520"/>
          </a:xfrm>
          <a:prstGeom prst="roundRect">
            <a:avLst>
              <a:gd name="adj" fmla="val 2198"/>
            </a:avLst>
          </a:prstGeom>
          <a:solidFill>
            <a:srgbClr val="EDF1F8"/>
          </a:solidFill>
          <a:ln w="12700">
            <a:solidFill>
              <a:srgbClr val="EDF1F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1810512"/>
            <a:ext cx="402336" cy="402336"/>
          </a:xfrm>
          <a:prstGeom prst="ellipse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810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181051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5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구체적 강점 · 19명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19672" y="23317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예체능 기술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0" y="233172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19672" y="2606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피아노 · 악기 · 그림 · 춤 · 노래 · 뜨개질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19672" y="29352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태도 · 끈기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0" y="293522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9672" y="32095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 짜기 · 긍정 마인드 · 목표 몰입 · 포기 안 함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19672" y="35387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경청 · 공감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0" y="353872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19672" y="38130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 고민·이야기 들어주기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19672" y="41422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· 표현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0" y="414223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19672" y="44165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읽기 · 필기 · 글쓰기와 경기 분석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9672" y="47457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돌봄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9600" y="474573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19672" y="50200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동생 돌보기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19672" y="53949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5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경청형 4명은 모둠 조율 역할에 배치하면 가장 잘 살아난다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다음에' 응답의 3층 구조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10817352" cy="1371600"/>
          </a:xfrm>
          <a:prstGeom prst="roundRect">
            <a:avLst>
              <a:gd name="adj" fmla="val 6667"/>
            </a:avLst>
          </a:prstGeom>
          <a:solidFill>
            <a:srgbClr val="223A66"/>
          </a:solidFill>
          <a:ln w="12700">
            <a:solidFill>
              <a:srgbClr val="223A66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15명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51560" y="23591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직업이 구체적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792224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음악·미술·과학·사회 교사, 약사, 간호사, 건축사, 부사관, 연구원, 배우, 박물관 직원, 엔터 마케터, 심리댄스치료 강사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83280" y="23957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3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방향 — 해당 직업의 실제 업무·전형을 데이터로 확인시켜 구체화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127248"/>
            <a:ext cx="10817352" cy="1371600"/>
          </a:xfrm>
          <a:prstGeom prst="roundRect">
            <a:avLst>
              <a:gd name="adj" fmla="val 6667"/>
            </a:avLst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51560" y="3383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11명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051560" y="3913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삶의 방식으로 답함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3346704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행복한 사람 · 멋진 사람 · 좋은 직장인 · 여행하며 살기 · 서울에서 살기 · 좋은 대학 · 해외 유학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83280" y="39502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E3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방향 — 가장 여지가 큰 그룹. 원하는 삶을 직업군 언어로 번역해 주기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681728"/>
            <a:ext cx="10817352" cy="1371600"/>
          </a:xfrm>
          <a:prstGeom prst="roundRect">
            <a:avLst>
              <a:gd name="adj" fmla="val 6667"/>
            </a:avLst>
          </a:prstGeom>
          <a:solidFill>
            <a:srgbClr val="EDF1F8"/>
          </a:solidFill>
          <a:ln w="12700">
            <a:solidFill>
              <a:srgbClr val="EDF1F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4937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51560" y="5468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미정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4901184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"꿈이 아직 없어요" — 스스로 그렇게 말한 학생들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83280" y="55046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161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방향 — 흥미 탐색형 과제에서 오히려 주도적으로 나서는 경우가 많음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6199632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진로 군집은 '교사' 5명 — 음악·미술·과학 2명·사회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학생별 응답 정리 (1–15)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26187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(?) 표시는 음성 인식 결과라 명렬표 대조가 필요한 이름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7632"/>
          <a:ext cx="1081735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108960"/>
                <a:gridCol w="2999232"/>
                <a:gridCol w="31089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최근 관심사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자신 있는 것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다음에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6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강예은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음악 듣기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피아노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좋은 대학교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강아정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 읽기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(응답 불명확)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고민주 (?)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유튜브 생선회 손질 영상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악기 여러 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음악 교사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고미현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스포츠 경기 관람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미술 교사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고예은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심리 분석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심리댄스치료 강사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(이름 미상)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노래 듣기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친구 말 들어주기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음악 하면서 잘 살기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강유진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드라마 · 영화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노래 부르기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세계적인 배우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김나희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음악 듣기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 잘 자기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멋진 사람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김민서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유튜브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 읽기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박물관 직원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김연 (?)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미대 입시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 진학 후 해외 유학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김윤희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노래 듣기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동생 돌보기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연구원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김우민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축구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글쓰기 · 경기 분석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부사관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노래 듣기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 많이 자기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행복한 사람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김정영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인스타그램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밥 잘 먹기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좋은 직장인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문지민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음악 듣기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계획 짜기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행복하게 살기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학생별 응답 정리 (16–29)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26187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'이름 미상'은 02:31 발화 — 앞 학생 목소리와 겹쳐 이름이 잡히지 않음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7632"/>
          <a:ext cx="1081735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108960"/>
                <a:gridCol w="2999232"/>
                <a:gridCol w="3108960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최근 관심사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자신 있는 것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다음에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A6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박소윤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드라마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긍정적으로 생각하기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여행 다니며 살기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소유 (?)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딱히 없음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잠자기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건축사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양수진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유튜브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목표가 있으면 열심히 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세계를 여행하며 살기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오지민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드라마 · 영화 · 사진 찍기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고민 들어주기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엔터 기업 마케터 · 기획자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우가히 (?)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노래 들으며 수학 숙제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마음먹으면 포기 안 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과학 교사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이유진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 읽기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뜨개질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장지혜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노래 듣기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친구 얘기 들어주기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사회 교사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전주은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노래 듣기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자는 것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정보라 (?)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빠르게 걷기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서울에서 살기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정재 (?)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영화 · 드라마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포기 않고 열심히 하기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과학 교사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 모르겠음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간호사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최효련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노래 듣기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잠자기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혼자 해외여행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함세연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노래 들으며 루빅큐브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친구 고민 들어주기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A6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현채은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드라마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오랫동안 잠자기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수업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진로를 정보 교과로 잇는 지점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261872"/>
            <a:ext cx="10817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스스로 말한 관심사·강점이 곧 개인화 과제의 재료가 된다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447288" cy="1965960"/>
          </a:xfrm>
          <a:prstGeom prst="roundRect">
            <a:avLst>
              <a:gd name="adj" fmla="val 4651"/>
            </a:avLst>
          </a:prstGeom>
          <a:solidFill>
            <a:srgbClr val="EDF1F8"/>
          </a:solidFill>
          <a:ln w="12700">
            <a:solidFill>
              <a:srgbClr val="EDF1F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1929384"/>
            <a:ext cx="365760" cy="365760"/>
          </a:xfrm>
          <a:prstGeom prst="ellipse">
            <a:avLst/>
          </a:prstGeom>
          <a:solidFill>
            <a:srgbClr val="223A66"/>
          </a:solidFill>
          <a:ln w="12700">
            <a:solidFill>
              <a:srgbClr val="223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99032" y="19293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 경기 분석 + 글쓰기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41832" y="240487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 데이터로 경기 기록 수집 · 시각화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32278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 · 시각화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1691640"/>
            <a:ext cx="3447288" cy="1965960"/>
          </a:xfrm>
          <a:prstGeom prst="roundRect">
            <a:avLst>
              <a:gd name="adj" fmla="val 4651"/>
            </a:avLst>
          </a:prstGeom>
          <a:solidFill>
            <a:srgbClr val="EDF1F8"/>
          </a:solidFill>
          <a:ln w="12700">
            <a:solidFill>
              <a:srgbClr val="EDF1F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26864" y="1929384"/>
            <a:ext cx="365760" cy="365760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84064" y="19293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엔터 마케터 + 사진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26864" y="240487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팬덤 반응 텍스트 감성 분석, AI 이미지로 콘셉트 시안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26864" y="32278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데이터 · 생성형 AI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55864" y="1691640"/>
            <a:ext cx="3447288" cy="1965960"/>
          </a:xfrm>
          <a:prstGeom prst="roundRect">
            <a:avLst>
              <a:gd name="adj" fmla="val 4651"/>
            </a:avLst>
          </a:prstGeom>
          <a:solidFill>
            <a:srgbClr val="EDF1F8"/>
          </a:solidFill>
          <a:ln w="12700">
            <a:solidFill>
              <a:srgbClr val="EDF1F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11896" y="1929384"/>
            <a:ext cx="365760" cy="365760"/>
          </a:xfrm>
          <a:prstGeom prst="ellipse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1896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69096" y="19293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심리 분석 + 춤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11896" y="240487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자세·동작 인식 AI 체험 후 데이터 윤리 토론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11896" y="32278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8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활용 · 정보 윤리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" y="3904488"/>
            <a:ext cx="3447288" cy="1965960"/>
          </a:xfrm>
          <a:prstGeom prst="roundRect">
            <a:avLst>
              <a:gd name="adj" fmla="val 4651"/>
            </a:avLst>
          </a:prstGeom>
          <a:solidFill>
            <a:srgbClr val="EDF1F8"/>
          </a:solidFill>
          <a:ln w="12700">
            <a:solidFill>
              <a:srgbClr val="EDF1F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41832" y="4142232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99032" y="41422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루빅큐브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41832" y="46177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큐브 해법을 알고리즘으로 기술하고 최적해 비교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1832" y="54406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알고리즘 · 탐색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70832" y="3904488"/>
            <a:ext cx="3447288" cy="1965960"/>
          </a:xfrm>
          <a:prstGeom prst="roundRect">
            <a:avLst>
              <a:gd name="adj" fmla="val 4651"/>
            </a:avLst>
          </a:prstGeom>
          <a:solidFill>
            <a:srgbClr val="EDF1F8"/>
          </a:solidFill>
          <a:ln w="12700">
            <a:solidFill>
              <a:srgbClr val="EDF1F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26864" y="4142232"/>
            <a:ext cx="365760" cy="365760"/>
          </a:xfrm>
          <a:prstGeom prst="ellipse">
            <a:avLst/>
          </a:prstGeom>
          <a:solidFill>
            <a:srgbClr val="3E8E7E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6864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84064" y="41422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약사 지망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626864" y="46177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약물 상호작용 DB 구조 이해와 검색 알고리즘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626864" y="54406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8E7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데이터베이스 · 검색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55864" y="3904488"/>
            <a:ext cx="3447288" cy="1965960"/>
          </a:xfrm>
          <a:prstGeom prst="roundRect">
            <a:avLst>
              <a:gd name="adj" fmla="val 4651"/>
            </a:avLst>
          </a:prstGeom>
          <a:solidFill>
            <a:srgbClr val="EDF1F8"/>
          </a:solidFill>
          <a:ln w="12700">
            <a:solidFill>
              <a:srgbClr val="EDF1F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B5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11896" y="4142232"/>
            <a:ext cx="365760" cy="365760"/>
          </a:xfrm>
          <a:prstGeom prst="ellipse">
            <a:avLst/>
          </a:prstGeom>
          <a:solidFill>
            <a:srgbClr val="223A66"/>
          </a:solidFill>
          <a:ln w="12700">
            <a:solidFill>
              <a:srgbClr val="223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11896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769096" y="41422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진로 미정 그룹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311896" y="461772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AI로 '진로 탐색 챗봇' 직접 만들어 보기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11896" y="54406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3A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· API 활용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23A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754880"/>
            <a:ext cx="3108960" cy="3108960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A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자료를 쓰는 순서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475488" cy="475488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57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99032" y="213969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확정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343400" y="2039112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(?) 표시된 6명과 이름 미상 1명을 반 명렬표와 대조한다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3081528"/>
            <a:ext cx="475488" cy="475488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99032" y="31638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카드로 전환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43400" y="3063240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학생별 4개 응답을 개인 상담 기록의 첫 페이지로 삼는다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105656"/>
            <a:ext cx="475488" cy="475488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05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99032" y="4187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중간층 11명에 집중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343400" y="4087368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'행복하게 살기'를 직업군 언어로 번역하는 상담을 우선 배치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5129784"/>
            <a:ext cx="475488" cy="475488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129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99032" y="5212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학기 말 재질문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343400" y="5111496"/>
            <a:ext cx="6949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D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네 질문을 다시 던져 강점 응답의 변화를 기록한다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전사본 기준 학생 발화 29건 · 참석자 2(교사) 발화 제외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반 자기소개 분석</dc:title>
  <dc:subject>PptxGenJS Presentation</dc:subject>
  <dc:creator>한결같은분</dc:creator>
  <cp:lastModifiedBy>한결같은분</cp:lastModifiedBy>
  <cp:revision>1</cp:revision>
  <dcterms:created xsi:type="dcterms:W3CDTF">2026-08-18T01:21:13Z</dcterms:created>
  <dcterms:modified xsi:type="dcterms:W3CDTF">2026-08-18T01:21:13Z</dcterms:modified>
</cp:coreProperties>
</file>